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hyperlink" Target="https://vc.datasharkbi.com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vc.datasharkbi.com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hyperlink" Target="https://vc.datasharkbi.com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vc.datasharkbi.com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vc.datasharkbi.com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https://vc.datasharkbi.com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vc.datasharkbi.com/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vc.datasharkbi.com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vc.datasharkbi.com/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vc.datasharkbi.com/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vc.datasharkbi.com/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vc.datasharkbi.com/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vc.datasharkbi.com/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https://vc.datasharkbi.com/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hyperlink" Target="https://vc.datasharkbi.com/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vc.datasharkbi.com/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hyperlink" Target="https://vc.datasharkbi.com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c-hero-light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0"/>
            <a:ext cx="717804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29200" y="0"/>
            <a:ext cx="73152" cy="6858000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u="none">
                <a:solidFill>
                  <a:srgbClr val="8A6A3B"/>
                </a:solidFill>
                <a:latin typeface="Calibri"/>
              </a:rPr>
              <a:t>VISUAL COMFORT–FLAVORED  ·  PUBLIC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4297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u="none">
                <a:solidFill>
                  <a:srgbClr val="F4EFE4"/>
                </a:solidFill>
                <a:latin typeface="Georgia"/>
              </a:rPr>
              <a:t>Retail analytics
wiring,
explained.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u="none">
                <a:solidFill>
                  <a:srgbClr val="C8C0B0"/>
                </a:solidFill>
                <a:latin typeface="Calibri"/>
              </a:rPr>
              <a:t>Local SQLite + optional Snowflake — same UI, governed metrics, synthetic dealers.</a:t>
            </a:r>
          </a:p>
        </p:txBody>
      </p:sp>
      <p:sp>
        <p:nvSpPr>
          <p:cNvPr id="8" name="Rectangle 7">
            <a:hlinkClick r:id="rId3"/>
          </p:cNvPr>
          <p:cNvSpPr/>
          <p:nvPr/>
        </p:nvSpPr>
        <p:spPr>
          <a:xfrm>
            <a:off x="548640" y="4434840"/>
            <a:ext cx="4023360" cy="640080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solidFill>
                  <a:srgbClr val="F4EFE4"/>
                </a:solidFill>
                <a:latin typeface="Calibri"/>
                <a:hlinkClick r:id="rId3"/>
              </a:rPr>
              <a:t>Open live demo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120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u="sng">
                <a:solidFill>
                  <a:srgbClr val="C8C0B0"/>
                </a:solidFill>
                <a:latin typeface="Calibri"/>
                <a:hlinkClick r:id="rId3"/>
              </a:rPr>
              <a:t>https://vc.datasharkbi.com/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235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u="none">
                <a:solidFill>
                  <a:srgbClr val="C8C0B0"/>
                </a:solidFill>
                <a:latin typeface="Calibri"/>
              </a:rPr>
              <a:t>Login: dlr-0001 / vc-demo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03504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u="none">
                <a:solidFill>
                  <a:srgbClr val="F4EFE4"/>
                </a:solidFill>
                <a:latin typeface="Georgia"/>
              </a:rPr>
              <a:t>Paul Rendleman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u="none">
                <a:solidFill>
                  <a:srgbClr val="8A6A3B"/>
                </a:solidFill>
                <a:latin typeface="Calibri"/>
              </a:rPr>
              <a:t>START 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8368"/>
            <a:ext cx="73152" cy="438912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217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u="none">
                <a:solidFill>
                  <a:srgbClr val="1C1914"/>
                </a:solidFill>
                <a:latin typeface="Georgia"/>
              </a:rPr>
              <a:t>Click the button — opens the live demo</a:t>
            </a:r>
          </a:p>
        </p:txBody>
      </p:sp>
      <p:sp>
        <p:nvSpPr>
          <p:cNvPr id="6" name="Rectangle 5">
            <a:hlinkClick r:id="rId2"/>
          </p:cNvPr>
          <p:cNvSpPr/>
          <p:nvPr/>
        </p:nvSpPr>
        <p:spPr>
          <a:xfrm>
            <a:off x="594360" y="1417320"/>
            <a:ext cx="10972800" cy="1051560"/>
          </a:xfrm>
          <a:prstGeom prst="rect">
            <a:avLst/>
          </a:prstGeom>
          <a:solidFill>
            <a:srgbClr val="1C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 u="none">
                <a:solidFill>
                  <a:srgbClr val="F4EFE4"/>
                </a:solidFill>
                <a:latin typeface="Calibri"/>
                <a:hlinkClick r:id="rId2"/>
              </a:rPr>
              <a:t>https://vc.datasharkbi.com/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u="none">
                <a:solidFill>
                  <a:srgbClr val="6B6458"/>
                </a:solidFill>
                <a:latin typeface="Calibri"/>
              </a:rPr>
              <a:t>If the button doesn’t open: copy the URL, or Ctrl/Cmd-click the underlined link below.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71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u="sng">
                <a:solidFill>
                  <a:srgbClr val="8A6A3B"/>
                </a:solidFill>
                <a:latin typeface="Calibri"/>
                <a:hlinkClick r:id="rId2"/>
              </a:rPr>
              <a:t>https://vc.datasharkbi.com/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566160"/>
            <a:ext cx="2743200" cy="2468880"/>
          </a:xfrm>
          <a:prstGeom prst="rect">
            <a:avLst/>
          </a:prstGeom>
          <a:solidFill>
            <a:srgbClr val="FFFDF8"/>
          </a:solidFill>
          <a:ln w="12700">
            <a:solidFill>
              <a:srgbClr val="D9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3566160"/>
            <a:ext cx="2743200" cy="73152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840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u="none">
                <a:solidFill>
                  <a:srgbClr val="8A6A3B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97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u="none">
                <a:solidFill>
                  <a:srgbClr val="1C1914"/>
                </a:solidFill>
                <a:latin typeface="Georgia"/>
              </a:rPr>
              <a:t>Open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006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u="none">
                <a:solidFill>
                  <a:srgbClr val="6B6458"/>
                </a:solidFill>
                <a:latin typeface="Calibri"/>
              </a:rPr>
              <a:t>Click the dark bar above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3566160"/>
            <a:ext cx="2743200" cy="2468880"/>
          </a:xfrm>
          <a:prstGeom prst="rect">
            <a:avLst/>
          </a:prstGeom>
          <a:solidFill>
            <a:srgbClr val="FFFDF8"/>
          </a:solidFill>
          <a:ln w="12700">
            <a:solidFill>
              <a:srgbClr val="D9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3566160"/>
            <a:ext cx="2743200" cy="73152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3840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u="none">
                <a:solidFill>
                  <a:srgbClr val="8A6A3B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297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u="none">
                <a:solidFill>
                  <a:srgbClr val="1C1914"/>
                </a:solidFill>
                <a:latin typeface="Georgia"/>
              </a:rPr>
              <a:t>Sign 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8006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u="none">
                <a:solidFill>
                  <a:srgbClr val="6B6458"/>
                </a:solidFill>
                <a:latin typeface="Calibri"/>
              </a:rPr>
              <a:t>dlr-0001 / vc-demo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3566160"/>
            <a:ext cx="2743200" cy="2468880"/>
          </a:xfrm>
          <a:prstGeom prst="rect">
            <a:avLst/>
          </a:prstGeom>
          <a:solidFill>
            <a:srgbClr val="FFFDF8"/>
          </a:solidFill>
          <a:ln w="12700">
            <a:solidFill>
              <a:srgbClr val="D9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3566160"/>
            <a:ext cx="2743200" cy="73152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840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u="none">
                <a:solidFill>
                  <a:srgbClr val="8A6A3B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297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u="none">
                <a:solidFill>
                  <a:srgbClr val="1C1914"/>
                </a:solidFill>
                <a:latin typeface="Georgia"/>
              </a:rPr>
              <a:t>Confirm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8006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u="none">
                <a:solidFill>
                  <a:srgbClr val="6B6458"/>
                </a:solidFill>
                <a:latin typeface="Calibri"/>
              </a:rPr>
              <a:t>SYNTHETIC badge 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35440" y="3566160"/>
            <a:ext cx="2743200" cy="2468880"/>
          </a:xfrm>
          <a:prstGeom prst="rect">
            <a:avLst/>
          </a:prstGeom>
          <a:solidFill>
            <a:srgbClr val="FFFDF8"/>
          </a:solidFill>
          <a:ln w="12700">
            <a:solidFill>
              <a:srgbClr val="D9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3566160"/>
            <a:ext cx="2743200" cy="73152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3840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u="none">
                <a:solidFill>
                  <a:srgbClr val="8A6A3B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4297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u="none">
                <a:solidFill>
                  <a:srgbClr val="1C1914"/>
                </a:solidFill>
                <a:latin typeface="Georgia"/>
              </a:rPr>
              <a:t>Walk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48006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u="none">
                <a:solidFill>
                  <a:srgbClr val="6B6458"/>
                </a:solidFill>
                <a:latin typeface="Calibri"/>
              </a:rPr>
              <a:t>Overview → Analytics → Assistant → Catalog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1052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u="none">
                <a:solidFill>
                  <a:srgbClr val="6B6458"/>
                </a:solidFill>
                <a:latin typeface="Calibri"/>
              </a:rPr>
              <a:t>VC Retail Analytics  ·  synthetic</a:t>
            </a:r>
          </a:p>
        </p:txBody>
      </p:sp>
      <p:sp>
        <p:nvSpPr>
          <p:cNvPr id="30" name="Rectangle 29">
            <a:hlinkClick r:id="rId2"/>
          </p:cNvPr>
          <p:cNvSpPr/>
          <p:nvPr/>
        </p:nvSpPr>
        <p:spPr>
          <a:xfrm>
            <a:off x="6583680" y="6446520"/>
            <a:ext cx="3931920" cy="292608"/>
          </a:xfrm>
          <a:prstGeom prst="rect">
            <a:avLst/>
          </a:prstGeom>
          <a:solidFill>
            <a:srgbClr val="E8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u="none">
                <a:solidFill>
                  <a:srgbClr val="8A6A3B"/>
                </a:solidFill>
                <a:latin typeface="Calibri"/>
                <a:hlinkClick r:id="rId2"/>
              </a:rPr>
              <a:t>https://vc.datasharkbi.com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u="none">
                <a:solidFill>
                  <a:srgbClr val="6B6458"/>
                </a:solidFill>
                <a:latin typeface="Calibri"/>
              </a:rPr>
              <a:t>2/17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u="none">
                <a:solidFill>
                  <a:srgbClr val="8A6A3B"/>
                </a:solidFill>
                <a:latin typeface="Calibri"/>
              </a:rPr>
              <a:t>WHY THIS EXISTS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8368"/>
            <a:ext cx="73152" cy="438912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217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u="none">
                <a:solidFill>
                  <a:srgbClr val="1C1914"/>
                </a:solidFill>
                <a:latin typeface="Georgia"/>
              </a:rPr>
              <a:t>Support pattern vs warehouse truth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u="none">
                <a:solidFill>
                  <a:srgbClr val="6B6458"/>
                </a:solidFill>
                <a:latin typeface="Calibri"/>
              </a:rPr>
              <a:t>Site support handles FAQ and escalation. Dealer sell-through, margin, and stock risk are not in chat — this demo grounds those answers in governed metrics (local or Snowflake).</a:t>
            </a:r>
          </a:p>
        </p:txBody>
      </p:sp>
      <p:pic>
        <p:nvPicPr>
          <p:cNvPr id="7" name="Picture 6" descr="vc-product-sti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280160"/>
            <a:ext cx="4297680" cy="3017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4360" y="4526280"/>
            <a:ext cx="3520440" cy="1554480"/>
          </a:xfrm>
          <a:prstGeom prst="rect">
            <a:avLst/>
          </a:prstGeom>
          <a:solidFill>
            <a:srgbClr val="FFFDF8"/>
          </a:solidFill>
          <a:ln w="12700">
            <a:solidFill>
              <a:srgbClr val="D9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70916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u="none">
                <a:solidFill>
                  <a:srgbClr val="1C1914"/>
                </a:solidFill>
                <a:latin typeface="Georgia"/>
              </a:rPr>
              <a:t>Session tenancy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120640"/>
            <a:ext cx="3154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u="none">
                <a:solidFill>
                  <a:srgbClr val="6B6458"/>
                </a:solidFill>
                <a:latin typeface="Calibri"/>
              </a:rPr>
              <a:t>Dealer scope from auth cookie — never from the prompt.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4526280"/>
            <a:ext cx="3520440" cy="1554480"/>
          </a:xfrm>
          <a:prstGeom prst="rect">
            <a:avLst/>
          </a:prstGeom>
          <a:solidFill>
            <a:srgbClr val="FFFDF8"/>
          </a:solidFill>
          <a:ln w="12700">
            <a:solidFill>
              <a:srgbClr val="D9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470916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u="none">
                <a:solidFill>
                  <a:srgbClr val="1C1914"/>
                </a:solidFill>
                <a:latin typeface="Georgia"/>
              </a:rPr>
              <a:t>Dual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5120640"/>
            <a:ext cx="3154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u="none">
                <a:solidFill>
                  <a:srgbClr val="6B6458"/>
                </a:solidFill>
                <a:latin typeface="Calibri"/>
              </a:rPr>
              <a:t>Same UI: SQLite local or Snowflake SERVING views.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4526280"/>
            <a:ext cx="3520440" cy="1554480"/>
          </a:xfrm>
          <a:prstGeom prst="rect">
            <a:avLst/>
          </a:prstGeom>
          <a:solidFill>
            <a:srgbClr val="FFFDF8"/>
          </a:solidFill>
          <a:ln w="12700">
            <a:solidFill>
              <a:srgbClr val="D9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470916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u="none">
                <a:solidFill>
                  <a:srgbClr val="1C1914"/>
                </a:solidFill>
                <a:latin typeface="Georgia"/>
              </a:rPr>
              <a:t>Traceable assistant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5120640"/>
            <a:ext cx="3154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u="none">
                <a:solidFill>
                  <a:srgbClr val="6B6458"/>
                </a:solidFill>
                <a:latin typeface="Calibri"/>
              </a:rPr>
              <a:t>Proposed answers include SQL + params in the tool trace.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1052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u="none">
                <a:solidFill>
                  <a:srgbClr val="6B6458"/>
                </a:solidFill>
                <a:latin typeface="Calibri"/>
              </a:rPr>
              <a:t>VC Retail Analytics  ·  synthetic</a:t>
            </a:r>
          </a:p>
        </p:txBody>
      </p:sp>
      <p:sp>
        <p:nvSpPr>
          <p:cNvPr id="18" name="Rectangle 17">
            <a:hlinkClick r:id="rId3"/>
          </p:cNvPr>
          <p:cNvSpPr/>
          <p:nvPr/>
        </p:nvSpPr>
        <p:spPr>
          <a:xfrm>
            <a:off x="6583680" y="6446520"/>
            <a:ext cx="3931920" cy="292608"/>
          </a:xfrm>
          <a:prstGeom prst="rect">
            <a:avLst/>
          </a:prstGeom>
          <a:solidFill>
            <a:srgbClr val="E8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u="none">
                <a:solidFill>
                  <a:srgbClr val="8A6A3B"/>
                </a:solidFill>
                <a:latin typeface="Calibri"/>
                <a:hlinkClick r:id="rId3"/>
              </a:rPr>
              <a:t>https://vc.datasharkbi.com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u="none">
                <a:solidFill>
                  <a:srgbClr val="6B6458"/>
                </a:solidFill>
                <a:latin typeface="Calibri"/>
              </a:rPr>
              <a:t>3/17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u="none">
                <a:solidFill>
                  <a:srgbClr val="8A6A3B"/>
                </a:solidFill>
                <a:latin typeface="Calibri"/>
              </a:rPr>
              <a:t>DEEP WIRING · LOCAL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8368"/>
            <a:ext cx="73152" cy="438912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217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u="none">
                <a:solidFill>
                  <a:srgbClr val="1C1914"/>
                </a:solidFill>
                <a:latin typeface="Georgia"/>
              </a:rPr>
              <a:t>Browser → API → SQLite → public edge</a:t>
            </a:r>
          </a:p>
        </p:txBody>
      </p:sp>
      <p:pic>
        <p:nvPicPr>
          <p:cNvPr id="6" name="Picture 5" descr="wiring_e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43000"/>
            <a:ext cx="11704320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u="none">
                <a:solidFill>
                  <a:srgbClr val="6B6458"/>
                </a:solidFill>
                <a:latin typeface="Calibri"/>
              </a:rPr>
              <a:t>VC Retail Analytics  ·  synthetic</a:t>
            </a:r>
          </a:p>
        </p:txBody>
      </p:sp>
      <p:sp>
        <p:nvSpPr>
          <p:cNvPr id="8" name="Rectangle 7">
            <a:hlinkClick r:id="rId3"/>
          </p:cNvPr>
          <p:cNvSpPr/>
          <p:nvPr/>
        </p:nvSpPr>
        <p:spPr>
          <a:xfrm>
            <a:off x="6583680" y="6446520"/>
            <a:ext cx="3931920" cy="292608"/>
          </a:xfrm>
          <a:prstGeom prst="rect">
            <a:avLst/>
          </a:prstGeom>
          <a:solidFill>
            <a:srgbClr val="E8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u="none">
                <a:solidFill>
                  <a:srgbClr val="8A6A3B"/>
                </a:solidFill>
                <a:latin typeface="Calibri"/>
                <a:hlinkClick r:id="rId3"/>
              </a:rPr>
              <a:t>https://vc.datasharkbi.com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u="none">
                <a:solidFill>
                  <a:srgbClr val="6B6458"/>
                </a:solidFill>
                <a:latin typeface="Calibri"/>
              </a:rPr>
              <a:t>4/17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u="none">
                <a:solidFill>
                  <a:srgbClr val="8A6A3B"/>
                </a:solidFill>
                <a:latin typeface="Calibri"/>
              </a:rPr>
              <a:t>WAREHOUSE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8368"/>
            <a:ext cx="73152" cy="438912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217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u="none">
                <a:solidFill>
                  <a:srgbClr val="1C1914"/>
                </a:solidFill>
                <a:latin typeface="Georgia"/>
              </a:rPr>
              <a:t>Bronze → Silver → Gold grain</a:t>
            </a:r>
          </a:p>
        </p:txBody>
      </p:sp>
      <p:pic>
        <p:nvPicPr>
          <p:cNvPr id="6" name="Picture 5" descr="arch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11521440" cy="2926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29768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none">
                <a:solidFill>
                  <a:srgbClr val="8A6A3B"/>
                </a:solidFill>
                <a:latin typeface="Calibri"/>
              </a:rPr>
              <a:t>Bronze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4297680"/>
            <a:ext cx="2788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u="none">
                <a:solidFill>
                  <a:srgbClr val="6B6458"/>
                </a:solidFill>
                <a:latin typeface="Calibri"/>
              </a:rPr>
              <a:t>Immutable events. Keys: event_id + (dealer_id, source_id, version).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429768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none">
                <a:solidFill>
                  <a:srgbClr val="8A6A3B"/>
                </a:solidFill>
                <a:latin typeface="Calibri"/>
              </a:rPr>
              <a:t>Validate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4297680"/>
            <a:ext cx="2788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u="none">
                <a:solidFill>
                  <a:srgbClr val="6B6458"/>
                </a:solidFill>
                <a:latin typeface="Calibri"/>
              </a:rPr>
              <a:t>Reject bad money/units/channels → quarantine.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0" y="429768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none">
                <a:solidFill>
                  <a:srgbClr val="8A6A3B"/>
                </a:solidFill>
                <a:latin typeface="Calibri"/>
              </a:rPr>
              <a:t>Silver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4297680"/>
            <a:ext cx="2788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u="none">
                <a:solidFill>
                  <a:srgbClr val="6B6458"/>
                </a:solidFill>
                <a:latin typeface="Calibri"/>
              </a:rPr>
              <a:t>Latest valid (dealer_id, sku_id) sell-through + on-hand.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30352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none">
                <a:solidFill>
                  <a:srgbClr val="8A6A3B"/>
                </a:solidFill>
                <a:latin typeface="Calibri"/>
              </a:rPr>
              <a:t>Gold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5303520"/>
            <a:ext cx="2788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u="none">
                <a:solidFill>
                  <a:srgbClr val="6B6458"/>
                </a:solidFill>
                <a:latin typeface="Calibri"/>
              </a:rPr>
              <a:t>Channel × region × family aggregates.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530352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none">
                <a:solidFill>
                  <a:srgbClr val="8A6A3B"/>
                </a:solidFill>
                <a:latin typeface="Calibri"/>
              </a:rPr>
              <a:t>Serve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5303520"/>
            <a:ext cx="2788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u="none">
                <a:solidFill>
                  <a:srgbClr val="6B6458"/>
                </a:solidFill>
                <a:latin typeface="Calibri"/>
              </a:rPr>
              <a:t>:8770 /api/metric with session dealer WHERE.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530352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none">
                <a:solidFill>
                  <a:srgbClr val="8A6A3B"/>
                </a:solidFill>
                <a:latin typeface="Calibri"/>
              </a:rPr>
              <a:t>Edge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5303520"/>
            <a:ext cx="2788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u="none">
                <a:solidFill>
                  <a:srgbClr val="6B6458"/>
                </a:solidFill>
                <a:latin typeface="Calibri"/>
              </a:rPr>
              <a:t>cloudflared tunnel → vc.datasharkbi.com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u="none">
                <a:solidFill>
                  <a:srgbClr val="6B6458"/>
                </a:solidFill>
                <a:latin typeface="Calibri"/>
              </a:rPr>
              <a:t>VC Retail Analytics  ·  synthetic</a:t>
            </a:r>
          </a:p>
        </p:txBody>
      </p:sp>
      <p:sp>
        <p:nvSpPr>
          <p:cNvPr id="20" name="Rectangle 19">
            <a:hlinkClick r:id="rId3"/>
          </p:cNvPr>
          <p:cNvSpPr/>
          <p:nvPr/>
        </p:nvSpPr>
        <p:spPr>
          <a:xfrm>
            <a:off x="6583680" y="6446520"/>
            <a:ext cx="3931920" cy="292608"/>
          </a:xfrm>
          <a:prstGeom prst="rect">
            <a:avLst/>
          </a:prstGeom>
          <a:solidFill>
            <a:srgbClr val="E8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u="none">
                <a:solidFill>
                  <a:srgbClr val="8A6A3B"/>
                </a:solidFill>
                <a:latin typeface="Calibri"/>
                <a:hlinkClick r:id="rId3"/>
              </a:rPr>
              <a:t>https://vc.datasharkbi.com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u="none">
                <a:solidFill>
                  <a:srgbClr val="6B6458"/>
                </a:solidFill>
                <a:latin typeface="Calibri"/>
              </a:rPr>
              <a:t>5/17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u="none">
                <a:solidFill>
                  <a:srgbClr val="8A6A3B"/>
                </a:solidFill>
                <a:latin typeface="Calibri"/>
              </a:rPr>
              <a:t>DEEP WIRING · SNOWFLAKE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8368"/>
            <a:ext cx="73152" cy="438912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217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u="none">
                <a:solidFill>
                  <a:srgbClr val="1C1914"/>
                </a:solidFill>
                <a:latin typeface="Georgia"/>
              </a:rPr>
              <a:t>Optional cloud path — same contracts</a:t>
            </a:r>
          </a:p>
        </p:txBody>
      </p:sp>
      <p:pic>
        <p:nvPicPr>
          <p:cNvPr id="6" name="Picture 5" descr="wiring_snowfl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11795760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u="none">
                <a:solidFill>
                  <a:srgbClr val="6B6458"/>
                </a:solidFill>
                <a:latin typeface="Calibri"/>
              </a:rPr>
              <a:t>VC Retail Analytics  ·  synthetic</a:t>
            </a:r>
          </a:p>
        </p:txBody>
      </p:sp>
      <p:sp>
        <p:nvSpPr>
          <p:cNvPr id="8" name="Rectangle 7">
            <a:hlinkClick r:id="rId3"/>
          </p:cNvPr>
          <p:cNvSpPr/>
          <p:nvPr/>
        </p:nvSpPr>
        <p:spPr>
          <a:xfrm>
            <a:off x="6583680" y="6446520"/>
            <a:ext cx="3931920" cy="292608"/>
          </a:xfrm>
          <a:prstGeom prst="rect">
            <a:avLst/>
          </a:prstGeom>
          <a:solidFill>
            <a:srgbClr val="E8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u="none">
                <a:solidFill>
                  <a:srgbClr val="8A6A3B"/>
                </a:solidFill>
                <a:latin typeface="Calibri"/>
                <a:hlinkClick r:id="rId3"/>
              </a:rPr>
              <a:t>https://vc.datasharkbi.com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u="none">
                <a:solidFill>
                  <a:srgbClr val="6B6458"/>
                </a:solidFill>
                <a:latin typeface="Calibri"/>
              </a:rPr>
              <a:t>6/17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u="none">
                <a:solidFill>
                  <a:srgbClr val="8A6A3B"/>
                </a:solidFill>
                <a:latin typeface="Calibri"/>
              </a:rPr>
              <a:t>SNOWFLAKE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8368"/>
            <a:ext cx="73152" cy="438912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217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u="none">
                <a:solidFill>
                  <a:srgbClr val="1C1914"/>
                </a:solidFill>
                <a:latin typeface="Georgia"/>
              </a:rPr>
              <a:t>Ordered scripts.cloud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2194560" cy="502920"/>
          </a:xfrm>
          <a:prstGeom prst="rect">
            <a:avLst/>
          </a:prstGeom>
          <a:solidFill>
            <a:srgbClr val="1C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u="none">
                <a:solidFill>
                  <a:srgbClr val="F4EFE4"/>
                </a:solidFill>
                <a:latin typeface="Calibri"/>
              </a:rPr>
              <a:t>doctor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3716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u="none">
                <a:solidFill>
                  <a:srgbClr val="6B6458"/>
                </a:solidFill>
                <a:latin typeface="Calibri"/>
              </a:rPr>
              <a:t>Verify connection profile (account / user / role / warehouse)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20"/>
            <a:ext cx="2194560" cy="502920"/>
          </a:xfrm>
          <a:prstGeom prst="rect">
            <a:avLst/>
          </a:prstGeom>
          <a:solidFill>
            <a:srgbClr val="1C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u="none">
                <a:solidFill>
                  <a:srgbClr val="F4EFE4"/>
                </a:solidFill>
                <a:latin typeface="Calibri"/>
              </a:rPr>
              <a:t>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19659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u="none">
                <a:solidFill>
                  <a:srgbClr val="6B6458"/>
                </a:solidFill>
                <a:latin typeface="Calibri"/>
              </a:rPr>
              <a:t>01_platform.sql → DB VC_RETAIL_DEMO + BRONZE/SILVER/GOLD/GOVERNANCE/SERVING + WH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468880"/>
            <a:ext cx="2194560" cy="502920"/>
          </a:xfrm>
          <a:prstGeom prst="rect">
            <a:avLst/>
          </a:prstGeom>
          <a:solidFill>
            <a:srgbClr val="1C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560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u="none">
                <a:solidFill>
                  <a:srgbClr val="F4EFE4"/>
                </a:solidFill>
                <a:latin typeface="Calibri"/>
              </a:rPr>
              <a:t>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5603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u="none">
                <a:solidFill>
                  <a:srgbClr val="6B6458"/>
                </a:solidFill>
                <a:latin typeface="Calibri"/>
              </a:rPr>
              <a:t>Seed local SQLite → PUT JSONL → @BRONZE.INGEST_STAGE → COPY INTO VARIANT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063240"/>
            <a:ext cx="2194560" cy="502920"/>
          </a:xfrm>
          <a:prstGeom prst="rect">
            <a:avLst/>
          </a:prstGeom>
          <a:solidFill>
            <a:srgbClr val="1C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154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u="none">
                <a:solidFill>
                  <a:srgbClr val="F4EFE4"/>
                </a:solidFill>
                <a:latin typeface="Calibri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1546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u="none">
                <a:solidFill>
                  <a:srgbClr val="6B6458"/>
                </a:solidFill>
                <a:latin typeface="Calibri"/>
              </a:rPr>
              <a:t>02_transform.sql → normalize → SILVER.FACTS (+ quarantine)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657600"/>
            <a:ext cx="2194560" cy="502920"/>
          </a:xfrm>
          <a:prstGeom prst="rect">
            <a:avLst/>
          </a:prstGeom>
          <a:solidFill>
            <a:srgbClr val="1C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749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u="none">
                <a:solidFill>
                  <a:srgbClr val="F4EFE4"/>
                </a:solidFill>
                <a:latin typeface="Calibri"/>
              </a:rPr>
              <a:t>governance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374904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u="none">
                <a:solidFill>
                  <a:srgbClr val="6B6458"/>
                </a:solidFill>
                <a:latin typeface="Calibri"/>
              </a:rPr>
              <a:t>03_governance.sql → USER_DEALERS + row-access policy on SERVING views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251960"/>
            <a:ext cx="2194560" cy="502920"/>
          </a:xfrm>
          <a:prstGeom prst="rect">
            <a:avLst/>
          </a:prstGeom>
          <a:solidFill>
            <a:srgbClr val="1C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343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u="none">
                <a:solidFill>
                  <a:srgbClr val="F4EFE4"/>
                </a:solidFill>
                <a:latin typeface="Calibri"/>
              </a:rPr>
              <a:t>semantic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43434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u="none">
                <a:solidFill>
                  <a:srgbClr val="6B6458"/>
                </a:solidFill>
                <a:latin typeface="Calibri"/>
              </a:rPr>
              <a:t>04_semantic.sql → SERVING.VC_RETAIL_SEMANTICS for Cortex Analyst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846320"/>
            <a:ext cx="2194560" cy="502920"/>
          </a:xfrm>
          <a:prstGeom prst="rect">
            <a:avLst/>
          </a:prstGeom>
          <a:solidFill>
            <a:srgbClr val="1C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937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u="none">
                <a:solidFill>
                  <a:srgbClr val="F4EFE4"/>
                </a:solidFill>
                <a:latin typeface="Calibri"/>
              </a:rPr>
              <a:t>validate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49377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u="none">
                <a:solidFill>
                  <a:srgbClr val="6B6458"/>
                </a:solidFill>
                <a:latin typeface="Calibri"/>
              </a:rPr>
              <a:t>05_validation.sql smoke checks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440680"/>
            <a:ext cx="2194560" cy="502920"/>
          </a:xfrm>
          <a:prstGeom prst="rect">
            <a:avLst/>
          </a:prstGeom>
          <a:solidFill>
            <a:srgbClr val="1C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532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u="none">
                <a:solidFill>
                  <a:srgbClr val="F4EFE4"/>
                </a:solidFill>
                <a:latin typeface="Calibri"/>
              </a:rPr>
              <a:t>reconcile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55321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u="none">
                <a:solidFill>
                  <a:srgbClr val="6B6458"/>
                </a:solidFill>
                <a:latin typeface="Calibri"/>
              </a:rPr>
              <a:t>Compare local silver_facts vs SILVER.FACTS → docs/evidence/reconcile.json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51052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u="none">
                <a:solidFill>
                  <a:srgbClr val="6B6458"/>
                </a:solidFill>
                <a:latin typeface="Calibri"/>
              </a:rPr>
              <a:t>VC Retail Analytics  ·  synthetic</a:t>
            </a:r>
          </a:p>
        </p:txBody>
      </p:sp>
      <p:sp>
        <p:nvSpPr>
          <p:cNvPr id="31" name="Rectangle 30">
            <a:hlinkClick r:id="rId2"/>
          </p:cNvPr>
          <p:cNvSpPr/>
          <p:nvPr/>
        </p:nvSpPr>
        <p:spPr>
          <a:xfrm>
            <a:off x="6583680" y="6446520"/>
            <a:ext cx="3931920" cy="292608"/>
          </a:xfrm>
          <a:prstGeom prst="rect">
            <a:avLst/>
          </a:prstGeom>
          <a:solidFill>
            <a:srgbClr val="E8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u="none">
                <a:solidFill>
                  <a:srgbClr val="8A6A3B"/>
                </a:solidFill>
                <a:latin typeface="Calibri"/>
                <a:hlinkClick r:id="rId2"/>
              </a:rPr>
              <a:t>https://vc.datasharkbi.com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u="none">
                <a:solidFill>
                  <a:srgbClr val="6B6458"/>
                </a:solidFill>
                <a:latin typeface="Calibri"/>
              </a:rPr>
              <a:t>7/17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u="none">
                <a:solidFill>
                  <a:srgbClr val="8A6A3B"/>
                </a:solidFill>
                <a:latin typeface="Calibri"/>
              </a:rPr>
              <a:t>SNOWFLAKE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8368"/>
            <a:ext cx="73152" cy="438912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217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u="none">
                <a:solidFill>
                  <a:srgbClr val="1C1914"/>
                </a:solidFill>
                <a:latin typeface="Georgia"/>
              </a:rPr>
              <a:t>Database layout + dealer row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2377440" cy="548640"/>
          </a:xfrm>
          <a:prstGeom prst="rect">
            <a:avLst/>
          </a:prstGeom>
          <a:solidFill>
            <a:srgbClr val="1C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3560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none">
                <a:solidFill>
                  <a:srgbClr val="F4EFE4"/>
                </a:solidFill>
                <a:latin typeface="Calibri"/>
              </a:rPr>
              <a:t>BRONZE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435608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u="none">
                <a:solidFill>
                  <a:srgbClr val="6B6458"/>
                </a:solidFill>
                <a:latin typeface="Calibri"/>
              </a:rPr>
              <a:t>DEALERS, PRODUCTS, EVENTS (VARIANT), INGEST_STAGE, INCOMING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65960"/>
            <a:ext cx="2377440" cy="548640"/>
          </a:xfrm>
          <a:prstGeom prst="rect">
            <a:avLst/>
          </a:prstGeom>
          <a:solidFill>
            <a:srgbClr val="1C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7568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none">
                <a:solidFill>
                  <a:srgbClr val="F4EFE4"/>
                </a:solidFill>
                <a:latin typeface="Calibri"/>
              </a:rPr>
              <a:t>SILVER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075688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u="none">
                <a:solidFill>
                  <a:srgbClr val="6B6458"/>
                </a:solidFill>
                <a:latin typeface="Calibri"/>
              </a:rPr>
              <a:t>FACTS (current dealer×SKU), QUARANTINE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06040"/>
            <a:ext cx="2377440" cy="548640"/>
          </a:xfrm>
          <a:prstGeom prst="rect">
            <a:avLst/>
          </a:prstGeom>
          <a:solidFill>
            <a:srgbClr val="1C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1576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none">
                <a:solidFill>
                  <a:srgbClr val="F4EFE4"/>
                </a:solidFill>
                <a:latin typeface="Calibri"/>
              </a:rPr>
              <a:t>GOLD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715768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u="none">
                <a:solidFill>
                  <a:srgbClr val="6B6458"/>
                </a:solidFill>
                <a:latin typeface="Calibri"/>
              </a:rPr>
              <a:t>Channel / family / region rolls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246119"/>
            <a:ext cx="2377440" cy="548640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355847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none">
                <a:solidFill>
                  <a:srgbClr val="F4EFE4"/>
                </a:solidFill>
                <a:latin typeface="Calibri"/>
              </a:rPr>
              <a:t>GOVERNANCE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355847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u="none">
                <a:solidFill>
                  <a:srgbClr val="6B6458"/>
                </a:solidFill>
                <a:latin typeface="Calibri"/>
              </a:rPr>
              <a:t>USER_DEALERS map + DEALER_SCOPE row-access policy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886200"/>
            <a:ext cx="2377440" cy="548640"/>
          </a:xfrm>
          <a:prstGeom prst="rect">
            <a:avLst/>
          </a:prstGeom>
          <a:solidFill>
            <a:srgbClr val="1C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99592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none">
                <a:solidFill>
                  <a:srgbClr val="F4EFE4"/>
                </a:solidFill>
                <a:latin typeface="Calibri"/>
              </a:rPr>
              <a:t>SERVING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3995928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u="none">
                <a:solidFill>
                  <a:srgbClr val="6B6458"/>
                </a:solidFill>
                <a:latin typeface="Calibri"/>
              </a:rPr>
              <a:t>Secure views for the app reader role + semantic 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709160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u="none">
                <a:solidFill>
                  <a:srgbClr val="1C1914"/>
                </a:solidFill>
                <a:latin typeface="Calibri"/>
              </a:rPr>
              <a:t>Row policy: CURRENT_USER() must map in GOVERNANCE.USER_DEALERS to DLR-#### or '*'.
Attached on SERVING.SILVER_FACTS, DEALERS, QUARANTINE, GOLD_CHANNEL_FAMILY.
Reader role gets USAGE on WH/DB/SERVING + SELECT on serving views — not raw Bronze.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1052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u="none">
                <a:solidFill>
                  <a:srgbClr val="6B6458"/>
                </a:solidFill>
                <a:latin typeface="Calibri"/>
              </a:rPr>
              <a:t>VC Retail Analytics  ·  synthetic</a:t>
            </a:r>
          </a:p>
        </p:txBody>
      </p:sp>
      <p:sp>
        <p:nvSpPr>
          <p:cNvPr id="23" name="Rectangle 22">
            <a:hlinkClick r:id="rId2"/>
          </p:cNvPr>
          <p:cNvSpPr/>
          <p:nvPr/>
        </p:nvSpPr>
        <p:spPr>
          <a:xfrm>
            <a:off x="6583680" y="6446520"/>
            <a:ext cx="3931920" cy="292608"/>
          </a:xfrm>
          <a:prstGeom prst="rect">
            <a:avLst/>
          </a:prstGeom>
          <a:solidFill>
            <a:srgbClr val="E8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u="none">
                <a:solidFill>
                  <a:srgbClr val="8A6A3B"/>
                </a:solidFill>
                <a:latin typeface="Calibri"/>
                <a:hlinkClick r:id="rId2"/>
              </a:rPr>
              <a:t>https://vc.datasharkbi.com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u="none">
                <a:solidFill>
                  <a:srgbClr val="6B6458"/>
                </a:solidFill>
                <a:latin typeface="Calibri"/>
              </a:rPr>
              <a:t>8/17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u="none">
                <a:solidFill>
                  <a:srgbClr val="8A6A3B"/>
                </a:solidFill>
                <a:latin typeface="Calibri"/>
              </a:rPr>
              <a:t>APP WIRING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8368"/>
            <a:ext cx="73152" cy="438912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217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u="none">
                <a:solidFill>
                  <a:srgbClr val="1C1914"/>
                </a:solidFill>
                <a:latin typeface="Georgia"/>
              </a:rPr>
              <a:t>One UI, two Store backends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5486400" cy="4709160"/>
          </a:xfrm>
          <a:prstGeom prst="rect">
            <a:avLst/>
          </a:prstGeom>
          <a:solidFill>
            <a:srgbClr val="FFFDF8"/>
          </a:solidFill>
          <a:ln w="12700">
            <a:solidFill>
              <a:srgbClr val="D9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486400" cy="4709160"/>
          </a:xfrm>
          <a:prstGeom prst="rect">
            <a:avLst/>
          </a:prstGeom>
          <a:solidFill>
            <a:srgbClr val="1C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u="none">
                <a:solidFill>
                  <a:srgbClr val="1C1914"/>
                </a:solidFill>
                <a:latin typeface="Georgia"/>
              </a:rPr>
              <a:t>Local (default)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u="none">
                <a:solidFill>
                  <a:srgbClr val="F4EFE4"/>
                </a:solidFill>
                <a:latin typeface="Georgia"/>
              </a:rPr>
              <a:t>Snowflake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 b="0" u="none">
                <a:solidFill>
                  <a:srgbClr val="6B6458"/>
                </a:solidFill>
                <a:latin typeface="Calibri"/>
              </a:rPr>
              <a:t>▪  python3 -m app.server</a:t>
            </a:r>
          </a:p>
          <a:p>
            <a:pPr>
              <a:spcBef>
                <a:spcPts val="500"/>
              </a:spcBef>
            </a:pPr>
            <a:r>
              <a:rPr sz="1400" b="0" u="none">
                <a:solidFill>
                  <a:srgbClr val="6B6458"/>
                </a:solidFill>
                <a:latin typeface="Calibri"/>
              </a:rPr>
              <a:t>▪  Store.rows → sqlite3 on data/demo.db</a:t>
            </a:r>
          </a:p>
          <a:p>
            <a:pPr>
              <a:spcBef>
                <a:spcPts val="500"/>
              </a:spcBef>
            </a:pPr>
            <a:r>
              <a:rPr sz="1400" b="0" u="none">
                <a:solidFill>
                  <a:srgbClr val="6B6458"/>
                </a:solidFill>
                <a:latin typeface="Calibri"/>
              </a:rPr>
              <a:t>▪  Tables: silver_facts, quarantine, …</a:t>
            </a:r>
          </a:p>
          <a:p>
            <a:pPr>
              <a:spcBef>
                <a:spcPts val="500"/>
              </a:spcBef>
            </a:pPr>
            <a:r>
              <a:rPr sz="1400" b="0" u="none">
                <a:solidFill>
                  <a:srgbClr val="6B6458"/>
                </a:solidFill>
                <a:latin typeface="Calibri"/>
              </a:rPr>
              <a:t>▪  Dealer WHERE from session cookie</a:t>
            </a:r>
          </a:p>
          <a:p>
            <a:pPr>
              <a:spcBef>
                <a:spcPts val="500"/>
              </a:spcBef>
            </a:pPr>
            <a:r>
              <a:rPr sz="1400" b="0" u="none">
                <a:solidFill>
                  <a:srgbClr val="6B6458"/>
                </a:solidFill>
                <a:latin typeface="Calibri"/>
              </a:rPr>
              <a:t>▪  No cloud credentials required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 b="0" u="none">
                <a:solidFill>
                  <a:srgbClr val="F4EFE4"/>
                </a:solidFill>
                <a:latin typeface="Calibri"/>
              </a:rPr>
              <a:t>▪  python3 -m app.server --backend snowflake --connection &lt;reader&gt;</a:t>
            </a:r>
          </a:p>
          <a:p>
            <a:pPr>
              <a:spcBef>
                <a:spcPts val="500"/>
              </a:spcBef>
            </a:pPr>
            <a:r>
              <a:rPr sz="1400" b="0" u="none">
                <a:solidFill>
                  <a:srgbClr val="F4EFE4"/>
                </a:solidFill>
                <a:latin typeface="Calibri"/>
              </a:rPr>
              <a:t>▪  Store.rows → snowflake.connector</a:t>
            </a:r>
          </a:p>
          <a:p>
            <a:pPr>
              <a:spcBef>
                <a:spcPts val="500"/>
              </a:spcBef>
            </a:pPr>
            <a:r>
              <a:rPr sz="1400" b="0" u="none">
                <a:solidFill>
                  <a:srgbClr val="F4EFE4"/>
                </a:solidFill>
                <a:latin typeface="Calibri"/>
              </a:rPr>
              <a:t>▪  USE SCHEMA SERVING</a:t>
            </a:r>
          </a:p>
          <a:p>
            <a:pPr>
              <a:spcBef>
                <a:spcPts val="500"/>
              </a:spcBef>
            </a:pPr>
            <a:r>
              <a:rPr sz="1400" b="0" u="none">
                <a:solidFill>
                  <a:srgbClr val="F4EFE4"/>
                </a:solidFill>
                <a:latin typeface="Calibri"/>
              </a:rPr>
              <a:t>▪  Same metric SQL shapes against views</a:t>
            </a:r>
          </a:p>
          <a:p>
            <a:pPr>
              <a:spcBef>
                <a:spcPts val="500"/>
              </a:spcBef>
            </a:pPr>
            <a:r>
              <a:rPr sz="1400" b="0" u="none">
                <a:solidFill>
                  <a:srgbClr val="F4EFE4"/>
                </a:solidFill>
                <a:latin typeface="Calibri"/>
              </a:rPr>
              <a:t>▪  RAP enforces dealer scope in-warehouse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1052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u="none">
                <a:solidFill>
                  <a:srgbClr val="6B6458"/>
                </a:solidFill>
                <a:latin typeface="Calibri"/>
              </a:rPr>
              <a:t>VC Retail Analytics  ·  synthetic</a:t>
            </a:r>
          </a:p>
        </p:txBody>
      </p:sp>
      <p:sp>
        <p:nvSpPr>
          <p:cNvPr id="13" name="Rectangle 12">
            <a:hlinkClick r:id="rId2"/>
          </p:cNvPr>
          <p:cNvSpPr/>
          <p:nvPr/>
        </p:nvSpPr>
        <p:spPr>
          <a:xfrm>
            <a:off x="6583680" y="6446520"/>
            <a:ext cx="3931920" cy="292608"/>
          </a:xfrm>
          <a:prstGeom prst="rect">
            <a:avLst/>
          </a:prstGeom>
          <a:solidFill>
            <a:srgbClr val="E8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u="none">
                <a:solidFill>
                  <a:srgbClr val="8A6A3B"/>
                </a:solidFill>
                <a:latin typeface="Calibri"/>
                <a:hlinkClick r:id="rId2"/>
              </a:rPr>
              <a:t>https://vc.datasharkbi.com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u="none">
                <a:solidFill>
                  <a:srgbClr val="6B6458"/>
                </a:solidFill>
                <a:latin typeface="Calibri"/>
              </a:rPr>
              <a:t>9/17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u="none">
                <a:solidFill>
                  <a:srgbClr val="8A6A3B"/>
                </a:solidFill>
                <a:latin typeface="Calibri"/>
              </a:rPr>
              <a:t>OPTIONAL CORTEX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8368"/>
            <a:ext cx="73152" cy="438912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217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u="none">
                <a:solidFill>
                  <a:srgbClr val="1C1914"/>
                </a:solidFill>
                <a:latin typeface="Georgia"/>
              </a:rPr>
              <a:t>Semantic view — not arbitrary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u="none">
                <a:solidFill>
                  <a:srgbClr val="6B6458"/>
                </a:solidFill>
                <a:latin typeface="Calibri"/>
              </a:rPr>
              <a:t>SERVING.VC_RETAIL_SEMANTICS binds dimensions (dealer, channel, family, region) and metrics (units, net_sales, margin, on_hand) over SILVER_FACTS.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031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 b="0" u="none">
                <a:solidFill>
                  <a:srgbClr val="6B6458"/>
                </a:solidFill>
                <a:latin typeface="Calibri"/>
              </a:rPr>
              <a:t>▪  Comment on the view: synthetic VC-flavored snapshot — do not invent forecasts or live order status</a:t>
            </a:r>
          </a:p>
          <a:p>
            <a:pPr>
              <a:spcBef>
                <a:spcPts val="500"/>
              </a:spcBef>
            </a:pPr>
            <a:r>
              <a:rPr sz="1500" b="0" u="none">
                <a:solidFill>
                  <a:srgbClr val="6B6458"/>
                </a:solidFill>
                <a:latin typeface="Calibri"/>
              </a:rPr>
              <a:t>▪  scripts/cortex.py calls Cortex Analyst against that semantic view (needs SNOWFLAKE_HOST + PAT)</a:t>
            </a:r>
          </a:p>
          <a:p>
            <a:pPr>
              <a:spcBef>
                <a:spcPts val="500"/>
              </a:spcBef>
            </a:pPr>
            <a:r>
              <a:rPr sz="1500" b="0" u="none">
                <a:solidFill>
                  <a:srgbClr val="6B6458"/>
                </a:solidFill>
                <a:latin typeface="Calibri"/>
              </a:rPr>
              <a:t>▪  Offline /api/ask Proposed path remains a closed METRICS vocabulary — not an LLM</a:t>
            </a:r>
          </a:p>
          <a:p>
            <a:pPr>
              <a:spcBef>
                <a:spcPts val="500"/>
              </a:spcBef>
            </a:pPr>
            <a:r>
              <a:rPr sz="1500" b="0" u="none">
                <a:solidFill>
                  <a:srgbClr val="6B6458"/>
                </a:solidFill>
                <a:latin typeface="Calibri"/>
              </a:rPr>
              <a:t>▪  Only claim “live Snowflake / Cortex” after scripts.cloud reconcile evidence exists</a:t>
            </a:r>
          </a:p>
          <a:p>
            <a:pPr>
              <a:spcBef>
                <a:spcPts val="500"/>
              </a:spcBef>
            </a:pPr>
            <a:r>
              <a:rPr sz="1500" b="0" u="none">
                <a:solidFill>
                  <a:srgbClr val="6B6458"/>
                </a:solidFill>
                <a:latin typeface="Calibri"/>
              </a:rPr>
              <a:t>▪  Isolated DB VC_RETAIL_DEMO — do not reuse other demo databases</a:t>
            </a:r>
          </a:p>
        </p:txBody>
      </p:sp>
      <p:sp>
        <p:nvSpPr>
          <p:cNvPr id="8" name="Rectangle 7">
            <a:hlinkClick r:id="rId2"/>
          </p:cNvPr>
          <p:cNvSpPr/>
          <p:nvPr/>
        </p:nvSpPr>
        <p:spPr>
          <a:xfrm>
            <a:off x="594360" y="5394960"/>
            <a:ext cx="5029200" cy="594360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u="none">
                <a:solidFill>
                  <a:srgbClr val="F4EFE4"/>
                </a:solidFill>
                <a:latin typeface="Calibri"/>
                <a:hlinkClick r:id="rId2"/>
              </a:rPr>
              <a:t>Open public demo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u="none">
                <a:solidFill>
                  <a:srgbClr val="6B6458"/>
                </a:solidFill>
                <a:latin typeface="Calibri"/>
              </a:rPr>
              <a:t>VC Retail Analytics  ·  synthetic</a:t>
            </a:r>
          </a:p>
        </p:txBody>
      </p:sp>
      <p:sp>
        <p:nvSpPr>
          <p:cNvPr id="10" name="Rectangle 9">
            <a:hlinkClick r:id="rId2"/>
          </p:cNvPr>
          <p:cNvSpPr/>
          <p:nvPr/>
        </p:nvSpPr>
        <p:spPr>
          <a:xfrm>
            <a:off x="6583680" y="6446520"/>
            <a:ext cx="3931920" cy="292608"/>
          </a:xfrm>
          <a:prstGeom prst="rect">
            <a:avLst/>
          </a:prstGeom>
          <a:solidFill>
            <a:srgbClr val="E8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u="none">
                <a:solidFill>
                  <a:srgbClr val="8A6A3B"/>
                </a:solidFill>
                <a:latin typeface="Calibri"/>
                <a:hlinkClick r:id="rId2"/>
              </a:rPr>
              <a:t>https://vc.datasharkbi.com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u="none">
                <a:solidFill>
                  <a:srgbClr val="6B6458"/>
                </a:solidFill>
                <a:latin typeface="Calibri"/>
              </a:rPr>
              <a:t>10/17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u="none">
                <a:solidFill>
                  <a:srgbClr val="8A6A3B"/>
                </a:solidFill>
                <a:latin typeface="Calibri"/>
              </a:rPr>
              <a:t>CONTRACTS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8368"/>
            <a:ext cx="73152" cy="438912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217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u="none">
                <a:solidFill>
                  <a:srgbClr val="1C1914"/>
                </a:solidFill>
                <a:latin typeface="Georgia"/>
              </a:rPr>
              <a:t>Governed metrics (closed vocabulary)</a:t>
            </a:r>
          </a:p>
        </p:txBody>
      </p:sp>
      <p:pic>
        <p:nvPicPr>
          <p:cNvPr id="6" name="Picture 5" descr="wiring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1133856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u="none">
                <a:solidFill>
                  <a:srgbClr val="6B6458"/>
                </a:solidFill>
                <a:latin typeface="Calibri"/>
              </a:rPr>
              <a:t>VC Retail Analytics  ·  synthetic</a:t>
            </a:r>
          </a:p>
        </p:txBody>
      </p:sp>
      <p:sp>
        <p:nvSpPr>
          <p:cNvPr id="8" name="Rectangle 7">
            <a:hlinkClick r:id="rId3"/>
          </p:cNvPr>
          <p:cNvSpPr/>
          <p:nvPr/>
        </p:nvSpPr>
        <p:spPr>
          <a:xfrm>
            <a:off x="6583680" y="6446520"/>
            <a:ext cx="3931920" cy="292608"/>
          </a:xfrm>
          <a:prstGeom prst="rect">
            <a:avLst/>
          </a:prstGeom>
          <a:solidFill>
            <a:srgbClr val="E8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u="none">
                <a:solidFill>
                  <a:srgbClr val="8A6A3B"/>
                </a:solidFill>
                <a:latin typeface="Calibri"/>
                <a:hlinkClick r:id="rId3"/>
              </a:rPr>
              <a:t>https://vc.datasharkbi.com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u="none">
                <a:solidFill>
                  <a:srgbClr val="6B6458"/>
                </a:solidFill>
                <a:latin typeface="Calibri"/>
              </a:rPr>
              <a:t>11/17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u="none">
                <a:solidFill>
                  <a:srgbClr val="8A6A3B"/>
                </a:solidFill>
                <a:latin typeface="Calibri"/>
              </a:rPr>
              <a:t>HTTP SURFACE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8368"/>
            <a:ext cx="73152" cy="438912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217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u="none">
                <a:solidFill>
                  <a:srgbClr val="1C1914"/>
                </a:solidFill>
                <a:latin typeface="Georgia"/>
              </a:rPr>
              <a:t>API map the UI calls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1155680" cy="548640"/>
          </a:xfrm>
          <a:prstGeom prst="rect">
            <a:avLst/>
          </a:prstGeom>
          <a:solidFill>
            <a:srgbClr val="FFFDF8"/>
          </a:solidFill>
          <a:ln w="12700">
            <a:solidFill>
              <a:srgbClr val="D9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356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none">
                <a:solidFill>
                  <a:srgbClr val="1C1914"/>
                </a:solidFill>
                <a:latin typeface="Calibri"/>
              </a:rPr>
              <a:t>POST /api/login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435608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u="none">
                <a:solidFill>
                  <a:srgbClr val="6B6458"/>
                </a:solidFill>
                <a:latin typeface="Calibri"/>
              </a:rPr>
              <a:t>Session cookie; binds dealer or operator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65960"/>
            <a:ext cx="11155680" cy="548640"/>
          </a:xfrm>
          <a:prstGeom prst="rect">
            <a:avLst/>
          </a:prstGeom>
          <a:solidFill>
            <a:srgbClr val="E8DFCF"/>
          </a:solidFill>
          <a:ln w="12700">
            <a:solidFill>
              <a:srgbClr val="D9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none">
                <a:solidFill>
                  <a:srgbClr val="1C1914"/>
                </a:solidFill>
                <a:latin typeface="Calibri"/>
              </a:rPr>
              <a:t>GET /api/session · /api/health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075688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u="none">
                <a:solidFill>
                  <a:srgbClr val="6B6458"/>
                </a:solidFill>
                <a:latin typeface="Calibri"/>
              </a:rPr>
              <a:t>Identity + backend label + synthetic flag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06040"/>
            <a:ext cx="11155680" cy="548640"/>
          </a:xfrm>
          <a:prstGeom prst="rect">
            <a:avLst/>
          </a:prstGeom>
          <a:solidFill>
            <a:srgbClr val="FFFDF8"/>
          </a:solidFill>
          <a:ln w="12700">
            <a:solidFill>
              <a:srgbClr val="D9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7157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none">
                <a:solidFill>
                  <a:srgbClr val="1C1914"/>
                </a:solidFill>
                <a:latin typeface="Calibri"/>
              </a:rPr>
              <a:t>GET /api/summary · /api/metric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715768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u="none">
                <a:solidFill>
                  <a:srgbClr val="6B6458"/>
                </a:solidFill>
                <a:latin typeface="Calibri"/>
              </a:rPr>
              <a:t>Overview KPIs; one of six METRICS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246119"/>
            <a:ext cx="11155680" cy="548640"/>
          </a:xfrm>
          <a:prstGeom prst="rect">
            <a:avLst/>
          </a:prstGeom>
          <a:solidFill>
            <a:srgbClr val="E8DFCF"/>
          </a:solidFill>
          <a:ln w="12700">
            <a:solidFill>
              <a:srgbClr val="D9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355847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none">
                <a:solidFill>
                  <a:srgbClr val="1C1914"/>
                </a:solidFill>
                <a:latin typeface="Calibri"/>
              </a:rPr>
              <a:t>GET /api/analytics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3355847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u="none">
                <a:solidFill>
                  <a:srgbClr val="6B6458"/>
                </a:solidFill>
                <a:latin typeface="Calibri"/>
              </a:rPr>
              <a:t>Bundled channel/family/region/stock_risk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886200"/>
            <a:ext cx="11155680" cy="548640"/>
          </a:xfrm>
          <a:prstGeom prst="rect">
            <a:avLst/>
          </a:prstGeom>
          <a:solidFill>
            <a:srgbClr val="FFFDF8"/>
          </a:solidFill>
          <a:ln w="12700">
            <a:solidFill>
              <a:srgbClr val="D9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959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none">
                <a:solidFill>
                  <a:srgbClr val="1C1914"/>
                </a:solidFill>
                <a:latin typeface="Calibri"/>
              </a:rPr>
              <a:t>POST /api/ask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3995928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u="none">
                <a:solidFill>
                  <a:srgbClr val="6B6458"/>
                </a:solidFill>
                <a:latin typeface="Calibri"/>
              </a:rPr>
              <a:t>mode=today|proposed → FAQ / metric / escalate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526280"/>
            <a:ext cx="11155680" cy="548640"/>
          </a:xfrm>
          <a:prstGeom prst="rect">
            <a:avLst/>
          </a:prstGeom>
          <a:solidFill>
            <a:srgbClr val="E8DFCF"/>
          </a:solidFill>
          <a:ln w="12700">
            <a:solidFill>
              <a:srgbClr val="D9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6360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none">
                <a:solidFill>
                  <a:srgbClr val="1C1914"/>
                </a:solidFill>
                <a:latin typeface="Calibri"/>
              </a:rPr>
              <a:t>POST /api/escalate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4636008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u="none">
                <a:solidFill>
                  <a:srgbClr val="6B6458"/>
                </a:solidFill>
                <a:latin typeface="Calibri"/>
              </a:rPr>
              <a:t>Structured handoff JSON (demo)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166359"/>
            <a:ext cx="11155680" cy="548640"/>
          </a:xfrm>
          <a:prstGeom prst="rect">
            <a:avLst/>
          </a:prstGeom>
          <a:solidFill>
            <a:srgbClr val="FFFDF8"/>
          </a:solidFill>
          <a:ln w="12700">
            <a:solidFill>
              <a:srgbClr val="D9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276087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none">
                <a:solidFill>
                  <a:srgbClr val="1C1914"/>
                </a:solidFill>
                <a:latin typeface="Calibri"/>
              </a:rPr>
              <a:t>GET /api/products · /api/catalog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5276087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u="none">
                <a:solidFill>
                  <a:srgbClr val="6B6458"/>
                </a:solidFill>
                <a:latin typeface="Calibri"/>
              </a:rPr>
              <a:t>Catalog search + metric lineage notes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1052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u="none">
                <a:solidFill>
                  <a:srgbClr val="6B6458"/>
                </a:solidFill>
                <a:latin typeface="Calibri"/>
              </a:rPr>
              <a:t>VC Retail Analytics  ·  synthetic</a:t>
            </a:r>
          </a:p>
        </p:txBody>
      </p:sp>
      <p:sp>
        <p:nvSpPr>
          <p:cNvPr id="28" name="Rectangle 27">
            <a:hlinkClick r:id="rId2"/>
          </p:cNvPr>
          <p:cNvSpPr/>
          <p:nvPr/>
        </p:nvSpPr>
        <p:spPr>
          <a:xfrm>
            <a:off x="6583680" y="6446520"/>
            <a:ext cx="3931920" cy="292608"/>
          </a:xfrm>
          <a:prstGeom prst="rect">
            <a:avLst/>
          </a:prstGeom>
          <a:solidFill>
            <a:srgbClr val="E8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u="none">
                <a:solidFill>
                  <a:srgbClr val="8A6A3B"/>
                </a:solidFill>
                <a:latin typeface="Calibri"/>
                <a:hlinkClick r:id="rId2"/>
              </a:rPr>
              <a:t>https://vc.datasharkbi.com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u="none">
                <a:solidFill>
                  <a:srgbClr val="6B6458"/>
                </a:solidFill>
                <a:latin typeface="Calibri"/>
              </a:rPr>
              <a:t>12/17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u="none">
                <a:solidFill>
                  <a:srgbClr val="8A6A3B"/>
                </a:solidFill>
                <a:latin typeface="Calibri"/>
              </a:rPr>
              <a:t>ASSISTANT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8368"/>
            <a:ext cx="73152" cy="438912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217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u="none">
                <a:solidFill>
                  <a:srgbClr val="1C1914"/>
                </a:solidFill>
                <a:latin typeface="Georgia"/>
              </a:rPr>
              <a:t>Today vs Proposed request router</a:t>
            </a:r>
          </a:p>
        </p:txBody>
      </p:sp>
      <p:pic>
        <p:nvPicPr>
          <p:cNvPr id="6" name="Picture 5" descr="wiring_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11338560" cy="5074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u="none">
                <a:solidFill>
                  <a:srgbClr val="6B6458"/>
                </a:solidFill>
                <a:latin typeface="Calibri"/>
              </a:rPr>
              <a:t>VC Retail Analytics  ·  synthetic</a:t>
            </a:r>
          </a:p>
        </p:txBody>
      </p:sp>
      <p:sp>
        <p:nvSpPr>
          <p:cNvPr id="8" name="Rectangle 7">
            <a:hlinkClick r:id="rId3"/>
          </p:cNvPr>
          <p:cNvSpPr/>
          <p:nvPr/>
        </p:nvSpPr>
        <p:spPr>
          <a:xfrm>
            <a:off x="6583680" y="6446520"/>
            <a:ext cx="3931920" cy="292608"/>
          </a:xfrm>
          <a:prstGeom prst="rect">
            <a:avLst/>
          </a:prstGeom>
          <a:solidFill>
            <a:srgbClr val="E8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u="none">
                <a:solidFill>
                  <a:srgbClr val="8A6A3B"/>
                </a:solidFill>
                <a:latin typeface="Calibri"/>
                <a:hlinkClick r:id="rId3"/>
              </a:rPr>
              <a:t>https://vc.datasharkbi.com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u="none">
                <a:solidFill>
                  <a:srgbClr val="6B6458"/>
                </a:solidFill>
                <a:latin typeface="Calibri"/>
              </a:rPr>
              <a:t>13/17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u="none">
                <a:solidFill>
                  <a:srgbClr val="8A6A3B"/>
                </a:solidFill>
                <a:latin typeface="Calibri"/>
              </a:rPr>
              <a:t>CHATBOT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8368"/>
            <a:ext cx="73152" cy="438912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217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u="none">
                <a:solidFill>
                  <a:srgbClr val="1C1914"/>
                </a:solidFill>
                <a:latin typeface="Georgia"/>
              </a:rPr>
              <a:t>What changes for the dealer</a:t>
            </a:r>
          </a:p>
        </p:txBody>
      </p:sp>
      <p:pic>
        <p:nvPicPr>
          <p:cNvPr id="6" name="Picture 5" descr="gap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1115568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u="none">
                <a:solidFill>
                  <a:srgbClr val="6B6458"/>
                </a:solidFill>
                <a:latin typeface="Calibri"/>
              </a:rPr>
              <a:t>VC Retail Analytics  ·  synthetic</a:t>
            </a:r>
          </a:p>
        </p:txBody>
      </p:sp>
      <p:sp>
        <p:nvSpPr>
          <p:cNvPr id="8" name="Rectangle 7">
            <a:hlinkClick r:id="rId3"/>
          </p:cNvPr>
          <p:cNvSpPr/>
          <p:nvPr/>
        </p:nvSpPr>
        <p:spPr>
          <a:xfrm>
            <a:off x="6583680" y="6446520"/>
            <a:ext cx="3931920" cy="292608"/>
          </a:xfrm>
          <a:prstGeom prst="rect">
            <a:avLst/>
          </a:prstGeom>
          <a:solidFill>
            <a:srgbClr val="E8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u="none">
                <a:solidFill>
                  <a:srgbClr val="8A6A3B"/>
                </a:solidFill>
                <a:latin typeface="Calibri"/>
                <a:hlinkClick r:id="rId3"/>
              </a:rPr>
              <a:t>https://vc.datasharkbi.com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u="none">
                <a:solidFill>
                  <a:srgbClr val="6B6458"/>
                </a:solidFill>
                <a:latin typeface="Calibri"/>
              </a:rPr>
              <a:t>14/17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u="none">
                <a:solidFill>
                  <a:srgbClr val="8A6A3B"/>
                </a:solidFill>
                <a:latin typeface="Calibri"/>
              </a:rPr>
              <a:t>ANALYTICS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8368"/>
            <a:ext cx="73152" cy="438912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217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u="none">
                <a:solidFill>
                  <a:srgbClr val="1C1914"/>
                </a:solidFill>
                <a:latin typeface="Georgia"/>
              </a:rPr>
              <a:t>Example panels (synthetic)</a:t>
            </a:r>
          </a:p>
        </p:txBody>
      </p:sp>
      <p:pic>
        <p:nvPicPr>
          <p:cNvPr id="6" name="Picture 5" descr="chart_cha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5669280" cy="4937760"/>
          </a:xfrm>
          <a:prstGeom prst="rect">
            <a:avLst/>
          </a:prstGeom>
        </p:spPr>
      </p:pic>
      <p:pic>
        <p:nvPicPr>
          <p:cNvPr id="7" name="Picture 6" descr="chart_st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34440"/>
            <a:ext cx="5669280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51052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u="none">
                <a:solidFill>
                  <a:srgbClr val="6B6458"/>
                </a:solidFill>
                <a:latin typeface="Calibri"/>
              </a:rPr>
              <a:t>VC Retail Analytics  ·  synthetic</a:t>
            </a:r>
          </a:p>
        </p:txBody>
      </p:sp>
      <p:sp>
        <p:nvSpPr>
          <p:cNvPr id="9" name="Rectangle 8">
            <a:hlinkClick r:id="rId4"/>
          </p:cNvPr>
          <p:cNvSpPr/>
          <p:nvPr/>
        </p:nvSpPr>
        <p:spPr>
          <a:xfrm>
            <a:off x="6583680" y="6446520"/>
            <a:ext cx="3931920" cy="292608"/>
          </a:xfrm>
          <a:prstGeom prst="rect">
            <a:avLst/>
          </a:prstGeom>
          <a:solidFill>
            <a:srgbClr val="E8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u="none">
                <a:solidFill>
                  <a:srgbClr val="8A6A3B"/>
                </a:solidFill>
                <a:latin typeface="Calibri"/>
                <a:hlinkClick r:id="rId4"/>
              </a:rPr>
              <a:t>https://vc.datasharkbi.com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u="none">
                <a:solidFill>
                  <a:srgbClr val="6B6458"/>
                </a:solidFill>
                <a:latin typeface="Calibri"/>
              </a:rPr>
              <a:t>15/17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u="none">
                <a:solidFill>
                  <a:srgbClr val="8A6A3B"/>
                </a:solidFill>
                <a:latin typeface="Calibri"/>
              </a:rPr>
              <a:t>DEMO SCRIPT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8368"/>
            <a:ext cx="73152" cy="438912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217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u="none">
                <a:solidFill>
                  <a:srgbClr val="1C1914"/>
                </a:solidFill>
                <a:latin typeface="Georgia"/>
              </a:rPr>
              <a:t>Prompts that exercise the wiring</a:t>
            </a:r>
          </a:p>
        </p:txBody>
      </p:sp>
      <p:sp>
        <p:nvSpPr>
          <p:cNvPr id="6" name="Rectangle 5">
            <a:hlinkClick r:id="rId2"/>
          </p:cNvPr>
          <p:cNvSpPr/>
          <p:nvPr/>
        </p:nvSpPr>
        <p:spPr>
          <a:xfrm>
            <a:off x="594360" y="1280160"/>
            <a:ext cx="10972800" cy="640080"/>
          </a:xfrm>
          <a:prstGeom prst="rect">
            <a:avLst/>
          </a:prstGeom>
          <a:solidFill>
            <a:srgbClr val="1C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u="none">
                <a:solidFill>
                  <a:srgbClr val="F4EFE4"/>
                </a:solidFill>
                <a:latin typeface="Calibri"/>
                <a:hlinkClick r:id="rId2"/>
              </a:rPr>
              <a:t>Open demo  ·  https://vc.datasharkbi.com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94560"/>
            <a:ext cx="5486400" cy="3840480"/>
          </a:xfrm>
          <a:prstGeom prst="rect">
            <a:avLst/>
          </a:prstGeom>
          <a:solidFill>
            <a:srgbClr val="FFFDF8"/>
          </a:solidFill>
          <a:ln w="12700">
            <a:solidFill>
              <a:srgbClr val="D9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2194560"/>
            <a:ext cx="5486400" cy="3840480"/>
          </a:xfrm>
          <a:prstGeom prst="rect">
            <a:avLst/>
          </a:prstGeom>
          <a:solidFill>
            <a:srgbClr val="1C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u="none">
                <a:solidFill>
                  <a:srgbClr val="1C1914"/>
                </a:solidFill>
                <a:latin typeface="Georgia"/>
              </a:rPr>
              <a:t>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u="none">
                <a:solidFill>
                  <a:srgbClr val="F4EFE4"/>
                </a:solidFill>
                <a:latin typeface="Georgia"/>
              </a:rPr>
              <a:t>Proposed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2608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 b="0" u="none">
                <a:solidFill>
                  <a:srgbClr val="6B6458"/>
                </a:solidFill>
                <a:latin typeface="Calibri"/>
              </a:rPr>
              <a:t>▪  custom order lead time → FAQ + source</a:t>
            </a:r>
          </a:p>
          <a:p>
            <a:pPr>
              <a:spcBef>
                <a:spcPts val="500"/>
              </a:spcBef>
            </a:pPr>
            <a:r>
              <a:rPr sz="1400" b="0" u="none">
                <a:solidFill>
                  <a:srgbClr val="6B6458"/>
                </a:solidFill>
                <a:latin typeface="Calibri"/>
              </a:rPr>
              <a:t>▪  what is open box → policy</a:t>
            </a:r>
          </a:p>
          <a:p>
            <a:pPr>
              <a:spcBef>
                <a:spcPts val="500"/>
              </a:spcBef>
            </a:pPr>
            <a:r>
              <a:rPr sz="1400" b="0" u="none">
                <a:solidFill>
                  <a:srgbClr val="6B6458"/>
                </a:solidFill>
                <a:latin typeface="Calibri"/>
              </a:rPr>
              <a:t>▪  where is my order 12345 → escalate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92608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 b="0" u="none">
                <a:solidFill>
                  <a:srgbClr val="F4EFE4"/>
                </a:solidFill>
                <a:latin typeface="Calibri"/>
              </a:rPr>
              <a:t>▪  show sales by channel → SQL + rows</a:t>
            </a:r>
          </a:p>
          <a:p>
            <a:pPr>
              <a:spcBef>
                <a:spcPts val="500"/>
              </a:spcBef>
            </a:pPr>
            <a:r>
              <a:rPr sz="1400" b="0" u="none">
                <a:solidFill>
                  <a:srgbClr val="F4EFE4"/>
                </a:solidFill>
                <a:latin typeface="Calibri"/>
              </a:rPr>
              <a:t>▪  show stock risk → stock_risk</a:t>
            </a:r>
          </a:p>
          <a:p>
            <a:pPr>
              <a:spcBef>
                <a:spcPts val="500"/>
              </a:spcBef>
            </a:pPr>
            <a:r>
              <a:rPr sz="1400" b="0" u="none">
                <a:solidFill>
                  <a:srgbClr val="F4EFE4"/>
                </a:solidFill>
                <a:latin typeface="Calibri"/>
              </a:rPr>
              <a:t>▪  alabaster → catalog</a:t>
            </a:r>
          </a:p>
          <a:p>
            <a:pPr>
              <a:spcBef>
                <a:spcPts val="500"/>
              </a:spcBef>
            </a:pPr>
            <a:r>
              <a:rPr sz="1400" b="0" u="none">
                <a:solidFill>
                  <a:srgbClr val="F4EFE4"/>
                </a:solidFill>
                <a:latin typeface="Calibri"/>
              </a:rPr>
              <a:t>▪  invent forecast → refuse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1052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u="none">
                <a:solidFill>
                  <a:srgbClr val="6B6458"/>
                </a:solidFill>
                <a:latin typeface="Calibri"/>
              </a:rPr>
              <a:t>VC Retail Analytics  ·  synthetic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6583680" y="6446520"/>
            <a:ext cx="3931920" cy="292608"/>
          </a:xfrm>
          <a:prstGeom prst="rect">
            <a:avLst/>
          </a:prstGeom>
          <a:solidFill>
            <a:srgbClr val="E8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u="none">
                <a:solidFill>
                  <a:srgbClr val="8A6A3B"/>
                </a:solidFill>
                <a:latin typeface="Calibri"/>
                <a:hlinkClick r:id="rId2"/>
              </a:rPr>
              <a:t>https://vc.datasharkbi.com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u="none">
                <a:solidFill>
                  <a:srgbClr val="6B6458"/>
                </a:solidFill>
                <a:latin typeface="Calibri"/>
              </a:rPr>
              <a:t>16/17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1C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0" y="0"/>
            <a:ext cx="73152" cy="6858000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c-hero-light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0"/>
            <a:ext cx="5715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371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none">
                <a:solidFill>
                  <a:srgbClr val="8A6A3B"/>
                </a:solidFill>
                <a:latin typeface="Calibri"/>
              </a:rPr>
              <a:t>LOCAL  ·  SNOWFLAKE  ·  PUBLIC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74519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u="none">
                <a:solidFill>
                  <a:srgbClr val="F4EFE4"/>
                </a:solidFill>
                <a:latin typeface="Georgia"/>
              </a:rPr>
              <a:t>Open the wiring.
Click the demo.</a:t>
            </a:r>
          </a:p>
        </p:txBody>
      </p:sp>
      <p:sp>
        <p:nvSpPr>
          <p:cNvPr id="8" name="Rectangle 7">
            <a:hlinkClick r:id="rId3"/>
          </p:cNvPr>
          <p:cNvSpPr/>
          <p:nvPr/>
        </p:nvSpPr>
        <p:spPr>
          <a:xfrm>
            <a:off x="594360" y="3383280"/>
            <a:ext cx="5029200" cy="685800"/>
          </a:xfrm>
          <a:prstGeom prst="rect">
            <a:avLst/>
          </a:prstGeom>
          <a:solidFill>
            <a:srgbClr val="8A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solidFill>
                  <a:srgbClr val="F4EFE4"/>
                </a:solidFill>
                <a:latin typeface="Calibri"/>
                <a:hlinkClick r:id="rId3"/>
              </a:rPr>
              <a:t>Open live demo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251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u="sng">
                <a:solidFill>
                  <a:srgbClr val="C8C0B0"/>
                </a:solidFill>
                <a:latin typeface="Calibri"/>
                <a:hlinkClick r:id="rId3"/>
              </a:rPr>
              <a:t>https://vc.datasharkbi.com/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7548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u="none">
                <a:solidFill>
                  <a:srgbClr val="C8C0B0"/>
                </a:solidFill>
                <a:latin typeface="Calibri"/>
              </a:rPr>
              <a:t>dlr-0001 / vc-demo
Not Visual Comfort production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760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u="none">
                <a:solidFill>
                  <a:srgbClr val="F4EFE4"/>
                </a:solidFill>
                <a:latin typeface="Georgia"/>
              </a:rPr>
              <a:t>Paul Rendleman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