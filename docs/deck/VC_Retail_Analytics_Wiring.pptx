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vc.datasharkbi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vc.datasharkbi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vc.datasharkbi.co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vc.datasharkbi.co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vc.datasharkbi.com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vc.datasharkbi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vc.datasharkbi.com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vc.datasharkbi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s://vc.datasharkbi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vc.datasharkbi.com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c-hero-ligh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780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VISUAL COMFORT–FLAVORED  ·  PUBLIC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u="none">
                <a:solidFill>
                  <a:srgbClr val="F4EFE4"/>
                </a:solidFill>
                <a:latin typeface="Georgia"/>
              </a:rPr>
              <a:t>Retail analytics
wiring,
explained.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C8C0B0"/>
                </a:solidFill>
                <a:latin typeface="Calibri"/>
              </a:rPr>
              <a:t>Local SQLite + optional Snowflake — same UI, governed metrics, synthetic dealers.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548640" y="4434840"/>
            <a:ext cx="4023360" cy="64008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solidFill>
                  <a:srgbClr val="F4EFE4"/>
                </a:solidFill>
                <a:latin typeface="Calibri"/>
                <a:hlinkClick r:id="rId3"/>
              </a:rPr>
              <a:t>Open live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sng">
                <a:solidFill>
                  <a:srgbClr val="C8C0B0"/>
                </a:solidFill>
                <a:latin typeface="Calibri"/>
                <a:hlinkClick r:id="rId3"/>
              </a:rPr>
              <a:t>https://vc.datasharkbi.com/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C8C0B0"/>
                </a:solidFill>
                <a:latin typeface="Calibri"/>
              </a:rPr>
              <a:t>Login: dlr-0001 / vc-demo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F4EFE4"/>
                </a:solidFill>
                <a:latin typeface="Georgia"/>
              </a:rPr>
              <a:t>Paul Rendleman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START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Click the button — opens the live demo</a:t>
            </a:r>
          </a:p>
        </p:txBody>
      </p:sp>
      <p:sp>
        <p:nvSpPr>
          <p:cNvPr id="6" name="Rectangle 5">
            <a:hlinkClick r:id="rId2"/>
          </p:cNvPr>
          <p:cNvSpPr/>
          <p:nvPr/>
        </p:nvSpPr>
        <p:spPr>
          <a:xfrm>
            <a:off x="594360" y="1417320"/>
            <a:ext cx="10972800" cy="105156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u="none">
                <a:solidFill>
                  <a:srgbClr val="F4EFE4"/>
                </a:solidFill>
                <a:latin typeface="Calibri"/>
                <a:hlinkClick r:id="rId2"/>
              </a:rPr>
              <a:t>https://vc.datasharkbi.com/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B6458"/>
                </a:solidFill>
                <a:latin typeface="Calibri"/>
              </a:rPr>
              <a:t>If the button doesn’t open: copy the URL, or Ctrl/Cmd-click the underlined link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u="sng">
                <a:solidFill>
                  <a:srgbClr val="8A6A3B"/>
                </a:solidFill>
                <a:latin typeface="Calibri"/>
                <a:hlinkClick r:id="rId2"/>
              </a:rPr>
              <a:t>https://vc.datasharkbi.com/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66160"/>
            <a:ext cx="2743200" cy="24688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566160"/>
            <a:ext cx="27432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u="none">
                <a:solidFill>
                  <a:srgbClr val="8A6A3B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Click the dark bar above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566160"/>
            <a:ext cx="2743200" cy="24688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566160"/>
            <a:ext cx="27432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u="none">
                <a:solidFill>
                  <a:srgbClr val="8A6A3B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operator / vc-demo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566160"/>
            <a:ext cx="2743200" cy="24688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566160"/>
            <a:ext cx="27432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u="none">
                <a:solidFill>
                  <a:srgbClr val="8A6A3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SYNTHETIC badge 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3566160"/>
            <a:ext cx="2743200" cy="24688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3566160"/>
            <a:ext cx="27432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u="none">
                <a:solidFill>
                  <a:srgbClr val="8A6A3B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Walk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Overview → Analytics (Market) → Lab →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30" name="Rectangle 29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WHY THIS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Support pattern vs warehouse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6B6458"/>
                </a:solidFill>
                <a:latin typeface="Calibri"/>
              </a:rPr>
              <a:t>Site support handles FAQ and escalation. Dealer sell-through, margin, and stock risk are not in chat — this demo grounds those answers in governed metrics (local or Snowflake).</a:t>
            </a:r>
          </a:p>
        </p:txBody>
      </p:sp>
      <p:pic>
        <p:nvPicPr>
          <p:cNvPr id="7" name="Picture 6" descr="vc-product-st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297680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4526280"/>
            <a:ext cx="3520440" cy="1554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1C1914"/>
                </a:solidFill>
                <a:latin typeface="Georgia"/>
              </a:rPr>
              <a:t>Session tenancy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B6458"/>
                </a:solidFill>
                <a:latin typeface="Calibri"/>
              </a:rPr>
              <a:t>Dealer scope from auth cookie — never from the prompt.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526280"/>
            <a:ext cx="3520440" cy="1554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709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1C1914"/>
                </a:solidFill>
                <a:latin typeface="Georgia"/>
              </a:rPr>
              <a:t>Dual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1206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B6458"/>
                </a:solidFill>
                <a:latin typeface="Calibri"/>
              </a:rPr>
              <a:t>Same UI: SQLite local or Snowflake SERVING 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4526280"/>
            <a:ext cx="3520440" cy="1554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709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1C1914"/>
                </a:solidFill>
                <a:latin typeface="Georgia"/>
              </a:rPr>
              <a:t>Traceable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1206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B6458"/>
                </a:solidFill>
                <a:latin typeface="Calibri"/>
              </a:rPr>
              <a:t>Proposed answers include SQL + params in the tool trace.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18" name="Rectangle 1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DEEP WIRING ·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Browser → API → SQLite → public edge</a:t>
            </a:r>
          </a:p>
        </p:txBody>
      </p:sp>
      <p:pic>
        <p:nvPicPr>
          <p:cNvPr id="6" name="Picture 5" descr="wiring_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117043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WAREHOUSE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Bronze → Silver → Gold grain</a:t>
            </a:r>
          </a:p>
        </p:txBody>
      </p:sp>
      <p:pic>
        <p:nvPicPr>
          <p:cNvPr id="6" name="Picture 5" descr="arc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52144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976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2976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Immutable events. Keys: event_id + (dealer_id, source_id, version).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2976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42976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Reject bad money/units/channels → quarantine.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42976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2976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Latest valid (dealer_id, sku_id) sell-through + on-hand.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035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3035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Channel × region × family aggregates.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3035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53035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:8770 /api/metric with session dealer WHERE.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53035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3035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cloudflared tunnel → vc.datasharkbi.com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20" name="Rectangle 19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DEEP WIRING · SNOWFLAKE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Optional cloud path — same contracts</a:t>
            </a:r>
          </a:p>
        </p:txBody>
      </p:sp>
      <p:pic>
        <p:nvPicPr>
          <p:cNvPr id="6" name="Picture 5" descr="wiring_snowfl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SNOWFLAKE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Ordered scripts.cloud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Verify connection profile (account / user / role / warehouse)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2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65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01_platform.sql → DB VC_RETAIL_DEMO + BRONZE/SILVER/GOLD/GOVERNANCE/SERVING + WH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5603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Seed local SQLite → PUT JSONL → @BRONZE.INGEST_STAGE → COPY INTO VARIANT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6324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1546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02_transform.sql → normalize → SILVER.FACTS (+ quarantine)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7490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03_governance.sql → USER_DEALERS + row-access policy on SERVING 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semantic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343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04_semantic.sql → SERVING.VC_RETAIL_SEMANTICS for Cortex Analyst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4632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937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05_validation.sql smoke checks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reconcile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532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Compare local silver_facts vs SILVER.FACTS → docs/evidence/reconcile.json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31" name="Rectangle 30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SNOWFLAKE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Database layout + dealer row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377440" cy="54864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43560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DEALERS, PRODUCTS, EVENTS (VARIANT), INGEST_STAGE, INCOMING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377440" cy="54864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756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7568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FACTS (current dealer×SKU), QUARANTINE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2377440" cy="54864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71576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Channel / family / region rolls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19"/>
            <a:ext cx="2377440" cy="54864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5584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355847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USER_DEALERS map + DEALER_SCOPE row-access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2377440" cy="54864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959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SERVING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99592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Secure views for the app reader role + semantic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1C1914"/>
                </a:solidFill>
                <a:latin typeface="Calibri"/>
              </a:rPr>
              <a:t>Row policy: CURRENT_USER() must map in GOVERNANCE.USER_DEALERS to DLR-#### or '*'.
Attached on SERVING.SILVER_FACTS, DEALERS, QUARANTINE, GOLD_CHANNEL_FAMILY.
Reader role gets USAGE on WH/DB/SERVING + SELECT on serving views — not raw Bronze.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23" name="Rectangle 22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APP WIRING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One UI, two Store backends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86400" cy="470916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470916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u="none">
                <a:solidFill>
                  <a:srgbClr val="1C1914"/>
                </a:solidFill>
                <a:latin typeface="Georgia"/>
              </a:rPr>
              <a:t>Local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u="none">
                <a:solidFill>
                  <a:srgbClr val="F4EFE4"/>
                </a:solidFill>
                <a:latin typeface="Georgia"/>
              </a:rPr>
              <a:t>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python3 -m app.server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Store.rows → sqlite3 on data/demo.db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Tables: silver_facts, quarantine, …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Dealer WHERE from session cookie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No cloud credentials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python3 -m app.server --backend snowflake --connection &lt;reader&gt;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Store.rows → snowflake.connector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USE SCHEMA SERVING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Same metric SQL shapes against views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RAP enforces dealer scope in-warehouse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13" name="Rectangle 12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OPTIONAL CORTEX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Semantic view — not arbitrary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6B6458"/>
                </a:solidFill>
                <a:latin typeface="Calibri"/>
              </a:rPr>
              <a:t>SERVING.VC_RETAIL_SEMANTICS binds dimensions (dealer, channel, family, region) and metrics (units, net_sales, margin, on_hand) over SILVER_FACTS.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Comment on the view: synthetic VC-flavored snapshot — do not invent forecasts or live order status</a:t>
            </a:r>
          </a:p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scripts/cortex.py calls Cortex Analyst against that semantic view (needs SNOWFLAKE_HOST + PAT)</a:t>
            </a:r>
          </a:p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Offline /api/ask Proposed path remains a closed METRICS vocabulary — not an LLM</a:t>
            </a:r>
          </a:p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Only claim “live Snowflake / Cortex” after scripts.cloud reconcile evidence exists</a:t>
            </a:r>
          </a:p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Isolated DB VC_RETAIL_DEMO — do not reuse other demo databases</a:t>
            </a:r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594360" y="5394960"/>
            <a:ext cx="5029200" cy="59436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u="none">
                <a:solidFill>
                  <a:srgbClr val="F4EFE4"/>
                </a:solidFill>
                <a:latin typeface="Calibri"/>
                <a:hlinkClick r:id="rId2"/>
              </a:rPr>
              <a:t>Open public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10" name="Rectangle 9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Governed metrics (closed vocabulary)</a:t>
            </a:r>
          </a:p>
        </p:txBody>
      </p:sp>
      <p:pic>
        <p:nvPicPr>
          <p:cNvPr id="6" name="Picture 5" descr="wirin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113385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HTTP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API map the UI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POST /api/login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43560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Session cookie; binds dealer or operator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11155680" cy="548640"/>
          </a:xfrm>
          <a:prstGeom prst="rect">
            <a:avLst/>
          </a:prstGeom>
          <a:solidFill>
            <a:srgbClr val="E8DFCF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GET /api/session · 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07568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Identity + backend label + synthetic flag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11155680" cy="548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15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GET /api/summary · /api/metric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71576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Overview KPIs; one of six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19"/>
            <a:ext cx="11155680" cy="548640"/>
          </a:xfrm>
          <a:prstGeom prst="rect">
            <a:avLst/>
          </a:prstGeom>
          <a:solidFill>
            <a:srgbClr val="E8DFCF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5584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GET /api/analytics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355847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Bundled channel/family/region/stock_risk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11155680" cy="548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959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POST /api/ask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9959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mode=today|proposed → FAQ / metric / escalate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26280"/>
            <a:ext cx="11155680" cy="548640"/>
          </a:xfrm>
          <a:prstGeom prst="rect">
            <a:avLst/>
          </a:prstGeom>
          <a:solidFill>
            <a:srgbClr val="E8DFCF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36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POST /api/escalate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3600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Structured handoff JSON (demo)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66359"/>
            <a:ext cx="11155680" cy="548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7608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GET /api/products · /api/catalog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276087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Catalog search + metric lineage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28" name="Rectangle 27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Today vs Proposed request router</a:t>
            </a:r>
          </a:p>
        </p:txBody>
      </p:sp>
      <p:pic>
        <p:nvPicPr>
          <p:cNvPr id="6" name="Picture 5" descr="wiring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CHATBOT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What changes for the dealer</a:t>
            </a:r>
          </a:p>
        </p:txBody>
      </p:sp>
      <p:pic>
        <p:nvPicPr>
          <p:cNvPr id="6" name="Picture 5" descr="gap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Example panels (synthetic)</a:t>
            </a:r>
          </a:p>
        </p:txBody>
      </p:sp>
      <p:pic>
        <p:nvPicPr>
          <p:cNvPr id="6" name="Picture 5" descr="chart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669280" cy="4937760"/>
          </a:xfrm>
          <a:prstGeom prst="rect">
            <a:avLst/>
          </a:prstGeom>
        </p:spPr>
      </p:pic>
      <p:pic>
        <p:nvPicPr>
          <p:cNvPr id="7" name="Picture 6" descr="chart_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66928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9" name="Rectangle 8">
            <a:hlinkClick r:id="rId4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4"/>
              </a:rPr>
              <a:t>https://vc.datasharkbi.com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DEMO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Prompts that exercise the wiring</a:t>
            </a:r>
          </a:p>
        </p:txBody>
      </p:sp>
      <p:sp>
        <p:nvSpPr>
          <p:cNvPr id="6" name="Rectangle 5">
            <a:hlinkClick r:id="rId2"/>
          </p:cNvPr>
          <p:cNvSpPr/>
          <p:nvPr/>
        </p:nvSpPr>
        <p:spPr>
          <a:xfrm>
            <a:off x="594360" y="1280160"/>
            <a:ext cx="10972800" cy="64008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u="none">
                <a:solidFill>
                  <a:srgbClr val="F4EFE4"/>
                </a:solidFill>
                <a:latin typeface="Calibri"/>
                <a:hlinkClick r:id="rId2"/>
              </a:rPr>
              <a:t>Open demo  ·  https://vc.datasharkbi.com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5486400" cy="3840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194560"/>
            <a:ext cx="5486400" cy="384048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F4EFE4"/>
                </a:solidFill>
                <a:latin typeface="Georgia"/>
              </a:rPr>
              <a:t>Proposed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custom order lead time → FAQ + source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what is open box → policy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where is my order 12345 → escalate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show sales by channel → SQL + rows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show stock risk → stock_risk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alabaster → catalog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invent forecast → refuse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INTERVIEW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What to open with an AI Engineer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65760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6576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u="none">
                <a:solidFill>
                  <a:srgbClr val="1C1914"/>
                </a:solidFill>
                <a:latin typeface="Georgia"/>
              </a:rPr>
              <a:t>Board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Chains share expansion → GM lift → forecast vs run-rate → growth into one spoken narrative.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365760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6576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u="none">
                <a:solidFill>
                  <a:srgbClr val="1C1914"/>
                </a:solidFill>
                <a:latin typeface="Georgia"/>
              </a:rPr>
              <a:t>Eval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20 golden prompts: FAQ · metric · voice fuzzy · refuse. Pass/fail + latency on screen.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325880"/>
            <a:ext cx="365760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325880"/>
            <a:ext cx="36576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u="none">
                <a:solidFill>
                  <a:srgbClr val="1C1914"/>
                </a:solidFill>
                <a:latin typeface="Georgia"/>
              </a:rPr>
              <a:t>Cortex vs governed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Same question side-by-side. Prefer closed metrics; Cortex is discovery/fallback.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365760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36576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u="none">
                <a:solidFill>
                  <a:srgbClr val="1C1914"/>
                </a:solidFill>
                <a:latin typeface="Georgia"/>
              </a:rPr>
              <a:t>Scope / RAP 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Operator pins DLR-0001 — same ask, fewer rows. App-layer mirror of Snowflake RAP.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657600"/>
            <a:ext cx="365760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657600"/>
            <a:ext cx="36576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u="none">
                <a:solidFill>
                  <a:srgbClr val="1C1914"/>
                </a:solidFill>
                <a:latin typeface="Georgia"/>
              </a:rPr>
              <a:t>90-day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3434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Grounding → measure → harden. Non-goals: no invented order status, no day-one phone replacement.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657600"/>
            <a:ext cx="3657600" cy="21488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657600"/>
            <a:ext cx="36576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u="none">
                <a:solidFill>
                  <a:srgbClr val="1C1914"/>
                </a:solidFill>
                <a:latin typeface="Georgia"/>
              </a:rPr>
              <a:t>Market + voice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3434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Competitor landscape (public-estimate), continuous Mic on Snowflake, Market analytics tab.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31" name="Rectangle 30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73152" cy="685800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c-hero-ligh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0"/>
            <a:ext cx="5715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LOCAL  ·  SNOWFLAKE  · 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u="none">
                <a:solidFill>
                  <a:srgbClr val="F4EFE4"/>
                </a:solidFill>
                <a:latin typeface="Georgia"/>
              </a:rPr>
              <a:t>Open the wiring.
Click the demo.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594360" y="3383280"/>
            <a:ext cx="5029200" cy="68580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solidFill>
                  <a:srgbClr val="F4EFE4"/>
                </a:solidFill>
                <a:latin typeface="Calibri"/>
                <a:hlinkClick r:id="rId3"/>
              </a:rPr>
              <a:t>Open live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sng">
                <a:solidFill>
                  <a:srgbClr val="C8C0B0"/>
                </a:solidFill>
                <a:latin typeface="Calibri"/>
                <a:hlinkClick r:id="rId3"/>
              </a:rPr>
              <a:t>https://vc.datasharkbi.com/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54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C8C0B0"/>
                </a:solidFill>
                <a:latin typeface="Calibri"/>
              </a:rPr>
              <a:t>operator / vc-demo
Not Visual Comfort production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F4EFE4"/>
                </a:solidFill>
                <a:latin typeface="Georgia"/>
              </a:rPr>
              <a:t>Paul Rendleman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